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Distributed Rate Limiter Service</a:t>
            </a:r>
          </a:p>
          <a:p>
            <a:pPr>
              <a:spcBef>
                <a:spcPts val="1000"/>
              </a:spcBef>
              <a:defRPr sz="2000">
                <a:solidFill>
                  <a:srgbClr val="4F46E5"/>
                </a:solidFill>
                <a:latin typeface="Arial"/>
              </a:defRPr>
            </a:pPr>
            <a:r>
              <a:t>Production-Grade System Design, Observability &amp; Chaos Testing</a:t>
            </a:r>
          </a:p>
          <a:p>
            <a:pPr>
              <a:spcBef>
                <a:spcPts val="2500"/>
              </a:spcBef>
              <a:defRPr sz="1400">
                <a:solidFill>
                  <a:srgbClr val="64748B"/>
                </a:solidFill>
                <a:latin typeface="Arial"/>
              </a:defRPr>
            </a:pPr>
            <a:r>
              <a:t>Multi-Algorithm  •  Circuit Breaker Resiliency  •  Real-Time 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What Was Built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Dual-Algorithm Pipeline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Supports Sliding Window Counter (Redis ZSET) and Token Bucket (Redis Hash) rate limiting selectable per request.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Multi-Node Clustering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3 backend application instances running behind Nginx round-robin load-balancing gateway.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Resilient Caching Engine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Executes checks atomically using Redis Lua scripts; fail-open state managed by Opossum circuit breakers.</a:t>
            </a:r>
          </a:p>
          <a:p>
            <a:pPr>
              <a:spcBef>
                <a:spcPts val="8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Trace-Audited Analytics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PostgreSQL database asynchronously records metadata logs (Allowed/Blocked status, client IPs, trace IDs, and latencies).</a:t>
            </a:r>
          </a:p>
        </p:txBody>
      </p:sp>
      <p:pic>
        <p:nvPicPr>
          <p:cNvPr id="4" name="Picture 3" descr="architecture_illustration_17841879557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45920"/>
            <a:ext cx="512064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Languages &amp; 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JavaScript &amp; Node.js:  </a:t>
            </a:r>
            <a:r>
              <a:rPr sz="1400" b="0">
                <a:solidFill>
                  <a:srgbClr val="64748B"/>
                </a:solidFill>
                <a:latin typeface="Arial"/>
              </a:rPr>
              <a:t>Express-based gateway pipeline routing, custom validation middlewares, and async database integrations.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Redis Lua Engine:  </a:t>
            </a:r>
            <a:r>
              <a:rPr sz="1400" b="0">
                <a:solidFill>
                  <a:srgbClr val="64748B"/>
                </a:solidFill>
                <a:latin typeface="Arial"/>
              </a:rPr>
              <a:t>Atomic sliding window sorted set and token bucket math executed directly in the single-threaded Redis cache loops.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PostgreSQL (Supabase):  </a:t>
            </a:r>
            <a:r>
              <a:rPr sz="1400" b="0">
                <a:solidFill>
                  <a:srgbClr val="64748B"/>
                </a:solidFill>
                <a:latin typeface="Arial"/>
              </a:rPr>
              <a:t>Stores persistent audit logs with indexes for p50/p99 latency calculations and cache hit aggregates.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HTML5 / Vanilla CSS3:  </a:t>
            </a:r>
            <a:r>
              <a:rPr sz="1400" b="0">
                <a:solidFill>
                  <a:srgbClr val="64748B"/>
                </a:solidFill>
                <a:latin typeface="Arial"/>
              </a:rPr>
              <a:t>Observability console frontend featuring dynamic Chart.js graphing and interactive test playgrounds.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Prometheus &amp; Grafana:  </a:t>
            </a:r>
            <a:r>
              <a:rPr sz="1400" b="0">
                <a:solidFill>
                  <a:srgbClr val="64748B"/>
                </a:solidFill>
                <a:latin typeface="Arial"/>
              </a:rPr>
              <a:t>Telemetry collection and dashboards for latencies, HTTP statuses, and system errors.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  <a:latin typeface="Arial"/>
              </a:defRPr>
            </a:pPr>
            <a:r>
              <a:t>•  Opossum Circuit Breakers:  </a:t>
            </a:r>
            <a:r>
              <a:rPr sz="1400" b="0">
                <a:solidFill>
                  <a:srgbClr val="64748B"/>
                </a:solidFill>
                <a:latin typeface="Arial"/>
              </a:rPr>
              <a:t>Fails open during network partitions and timeouts, maintaining 99.99% gateway availability.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System Logic &amp; Chaos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Sliding Window &amp; Token Bucket Math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Sliding window uses ZREMRANGEBYSCORE and ZCARD to evict and count timestamps atomically. Token bucket calculates token refills mathematically on-the-fly, avoiding expensive cron timers.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Chaos Injection &amp; Circuit Breakers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Interactive triggers to simulate Redis timeouts, network partitions, and clock-skew errors. Outages trip the circuit breaker and route requests to fail-open database limits seamlessly.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Hashed API Key Security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Plain text API keys are never stored on the server. The gateway hashes keys via SHA256 on creation, storing only the hash. Incoming keys are hashed on-the-fly to authorize requests.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Clock Skew &amp; Race Protections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Rejects client timestamps &gt;5 seconds in the future with 400 Bad Request. Single-threaded Lua loops serialize simultaneous multi-node checks to avoid double-allocation race conditions.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Production Cloud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Live Serverless Hosting on Vercel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Deployed Express API endpoints serverlessly at https://rate-limiter-three.vercel.app with automatic routing configuration defined in vercel.json.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Secure Caching via Upstash Redis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Handles cluster state globally in Upstash Redis using TLS-encrypted (rediss://) sockets on Vercel.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Persistent Databases via Supabase Postgres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Stores request metrics safely in cloud Postgres with SSL encryption keys fully enabled. Runs math aggregates on startup to update telemetry indexes.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Local Orchestration via Docker Compose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Includes Dockerfiles, Nginx load balancer configs, Prometheus metrics scrapers, and Grafana dashboard panels for simple local cluster deployments.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Live Admin Dashboard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•  Interactive API Playground</a:t>
            </a:r>
          </a:p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    Toggle algorithms, enter mock keys, fire check requests, and view 429 block countdowns.</a:t>
            </a:r>
          </a:p>
          <a:p>
            <a:pPr>
              <a:spcBef>
                <a:spcPts val="6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•  Live Chart.js Throughput</a:t>
            </a:r>
          </a:p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    Line graph drawing allowed vs. blocked queries over a rolling timeline.</a:t>
            </a:r>
          </a:p>
          <a:p>
            <a:pPr>
              <a:spcBef>
                <a:spcPts val="6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•  Chaos Control Panel</a:t>
            </a:r>
          </a:p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    Buttons to inject Redis timeouts, partitions, and clock skews to trigger fallbacks.</a:t>
            </a:r>
          </a:p>
          <a:p>
            <a:pPr>
              <a:spcBef>
                <a:spcPts val="6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•  Real-Time Telemetry Stats</a:t>
            </a:r>
          </a:p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    Polls aggregates from Postgres showing p50/p99 latency, cache hit rate, and error rate.</a:t>
            </a:r>
          </a:p>
          <a:p>
            <a:pPr>
              <a:spcBef>
                <a:spcPts val="600"/>
              </a:spcBef>
              <a:defRPr sz="1600" b="1">
                <a:solidFill>
                  <a:srgbClr val="4F46E5"/>
                </a:solidFill>
                <a:latin typeface="Arial"/>
              </a:defRPr>
            </a:pPr>
            <a:r>
              <a:t>•  Dynamic Trace Audit Logs</a:t>
            </a:r>
          </a:p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    Renders client IP, execution latency, trace ID, and fallback status for every query.</a:t>
            </a:r>
          </a:p>
        </p:txBody>
      </p:sp>
      <p:pic>
        <p:nvPicPr>
          <p:cNvPr id="4" name="Picture 3" descr="dashboard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2179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Operational Scalability &amp;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Low Caching Footprint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Sliding window uses ZSETs consuming ~2.4MB for 10k active users. Token Bucket uses hashes consuming ~0.9MB for 10k active users, enabling lean and fast cache limits.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Linear Scaling Performance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Handles 50,000+ requests/sec across a basic 3-node distributed server cluster before hitting network bottlenecks. Decision latency remains &lt;1.5ms on the hot path.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Consistent Hashing Shards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For larger volumes (&gt;100k req/sec), sharding is implemented utilizing consistent hashing keys ({userId}) to distribute load evenly across Redis sentinel clusters.</a:t>
            </a:r>
          </a:p>
          <a:p>
            <a:pPr>
              <a:spcBef>
                <a:spcPts val="1000"/>
              </a:spcBef>
              <a:defRPr sz="1700" b="1">
                <a:solidFill>
                  <a:srgbClr val="4F46E5"/>
                </a:solidFill>
              </a:defRPr>
            </a:pPr>
            <a:r>
              <a:t>•  Operational Budget Projections</a:t>
            </a:r>
          </a:p>
          <a:p>
            <a:pPr>
              <a:defRPr sz="1300">
                <a:solidFill>
                  <a:srgbClr val="64748B"/>
                </a:solidFill>
                <a:latin typeface="Arial"/>
              </a:defRPr>
            </a:pPr>
            <a:r>
              <a:t>    Cost is minimized using serverless structures. Total monthly estimate is ~$37 ($12/month for Upstash serverless Redis, $25/month for Supabase persistent databases).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