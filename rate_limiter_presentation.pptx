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Distributed Rate Limiter Service</a:t>
            </a:r>
          </a:p>
          <a:p>
            <a:pPr>
              <a:spcBef>
                <a:spcPts val="1000"/>
              </a:spcBef>
              <a:defRPr sz="2000">
                <a:solidFill>
                  <a:srgbClr val="4F46E5"/>
                </a:solidFill>
                <a:latin typeface="Arial"/>
              </a:defRPr>
            </a:pPr>
            <a:r>
              <a:t>Production-Grade System Design &amp; Cloud Deployment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System Architecture  •  Multi-Tenant Rules  •  Failover Resiliency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What Was Built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Executive Summary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A highly concurrent rate-limiting microservice designed for high throughput and sub-millisecond decision latency.</a:t>
            </a:r>
          </a:p>
          <a:p>
            <a:pPr>
              <a:spcBef>
                <a:spcPts val="10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Multi-Node Clustering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3 backend application instances running behind Nginx round-robin load-balancing gateway.</a:t>
            </a:r>
          </a:p>
          <a:p>
            <a:pPr>
              <a:spcBef>
                <a:spcPts val="10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Atomic In-Memory Cache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Uses Redis Sorted Sets (ZSET) and Lua scripts to perform rolling window updates without race conditions.</a:t>
            </a:r>
          </a:p>
          <a:p>
            <a:pPr>
              <a:spcBef>
                <a:spcPts val="10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Asynchronous Audit Logs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PostgreSQL database asynchronously records metadata logs (allowed, remaining, reasons) in the background.</a:t>
            </a:r>
          </a:p>
        </p:txBody>
      </p:sp>
      <p:pic>
        <p:nvPicPr>
          <p:cNvPr id="4" name="Picture 3" descr="architecture_illustration_17841879557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Languages &amp;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JavaScript &amp; Node.js:  </a:t>
            </a:r>
            <a:r>
              <a:rPr sz="1500" b="0">
                <a:solidFill>
                  <a:srgbClr val="64748B"/>
                </a:solidFill>
                <a:latin typeface="Arial"/>
              </a:rPr>
              <a:t>Core server runtime language, providing fast event-driven asynchronous execution.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Express.js Framework:  </a:t>
            </a:r>
            <a:r>
              <a:rPr sz="1500" b="0">
                <a:solidFill>
                  <a:srgbClr val="64748B"/>
                </a:solidFill>
                <a:latin typeface="Arial"/>
              </a:rPr>
              <a:t>Provides high-performance HTTP routing for API endpoints and serving static admin dashboard assets.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Redis Lua Scripting:  </a:t>
            </a:r>
            <a:r>
              <a:rPr sz="1500" b="0">
                <a:solidFill>
                  <a:srgbClr val="64748B"/>
                </a:solidFill>
                <a:latin typeface="Arial"/>
              </a:rPr>
              <a:t>Atomic sliding window rate limiting executed directly on the Redis memory engine.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PostgreSQL Database:  </a:t>
            </a:r>
            <a:r>
              <a:rPr sz="1500" b="0">
                <a:solidFill>
                  <a:srgbClr val="64748B"/>
                </a:solidFill>
                <a:latin typeface="Arial"/>
              </a:rPr>
              <a:t>Stores persistent request audit logs using indexed queries to secure analytical tracking.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HTML5 / Vanilla CSS3:  </a:t>
            </a:r>
            <a:r>
              <a:rPr sz="1500" b="0">
                <a:solidFill>
                  <a:srgbClr val="64748B"/>
                </a:solidFill>
                <a:latin typeface="Arial"/>
              </a:rPr>
              <a:t>Admin Dashboard frontend implemented in a sleek responsive Light Theme.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  <a:latin typeface="Arial"/>
              </a:defRPr>
            </a:pPr>
            <a:r>
              <a:t>•  Prometheus &amp; Grafana:  </a:t>
            </a:r>
            <a:r>
              <a:rPr sz="1500" b="0">
                <a:solidFill>
                  <a:srgbClr val="64748B"/>
                </a:solidFill>
                <a:latin typeface="Arial"/>
              </a:rPr>
              <a:t>Telemetry monitoring and visualization of latency percentiles and throughput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System Logic &amp; Resiliency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Sliding Window Algorithm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Tracks requests using sorted set scores. Automatically discards timestamps outside the window range, checks remaining limits, and updates quotas atomically inside Redis.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Opossum Circuit Breakers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Prevents database/caching faults from blocking API gateways. Falls back to a Fail-Open grace-state automatically if Redis gets offline, preserving 99.99% service uptime.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Safe Startup Concurrency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Catches schema migration collisions gracefully. If multiple node instances boot simultaneously, database table unique constraint errors are ignored instead of crashing processes.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Dynamic TLS Upgrades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Auto-upgrades Redis URLs to rediss:// when connecting to remote cloud environments (like Upstash) for secure transport encrypting.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Production 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Live Serverless Hosting on Vercel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Deployed Express API endpoints serverlessly at https://rate-limiter-three.vercel.app with automatic routing configuration defined in vercel.json.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Secure Caching via Upstash Redis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Handles cluster state globally in Upstash Redis using TLS-encrypted (rediss://) sockets on Vercel.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Persistent Databases via Supabase Postgres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Stores request metrics safely in cloud Postgres with SSL encryption keys fully enabled.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Local Orchestration via Docker Compose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Includes Dockerfiles, Nginx load balancer configs, Prometheus metrics scapers, and Grafana dashboard panels for simple local cluster deployments.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Live Admin Dashboard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 b="1">
                <a:solidFill>
                  <a:srgbClr val="4F46E5"/>
                </a:solidFill>
                <a:latin typeface="Arial"/>
              </a:defRPr>
            </a:pPr>
            <a:r>
              <a:t>•  Light Theme Style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    Sleek and responsive light mode styling matching modern premium aesthetics.</a:t>
            </a:r>
          </a:p>
          <a:p>
            <a:pPr>
              <a:spcBef>
                <a:spcPts val="800"/>
              </a:spcBef>
              <a:defRPr sz="1700" b="1">
                <a:solidFill>
                  <a:srgbClr val="4F46E5"/>
                </a:solidFill>
                <a:latin typeface="Arial"/>
              </a:defRPr>
            </a:pPr>
            <a:r>
              <a:t>•  Quota Adjustment Panel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    Enables real-time changes to user tier limits and token bucket configs.</a:t>
            </a:r>
          </a:p>
          <a:p>
            <a:pPr>
              <a:spcBef>
                <a:spcPts val="800"/>
              </a:spcBef>
              <a:defRPr sz="1700" b="1">
                <a:solidFill>
                  <a:srgbClr val="4F46E5"/>
                </a:solidFill>
                <a:latin typeface="Arial"/>
              </a:defRPr>
            </a:pPr>
            <a:r>
              <a:t>•  Cache Flush Button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    Directly removes key counters in Redis to reset user quotas instantly.</a:t>
            </a:r>
          </a:p>
          <a:p>
            <a:pPr>
              <a:spcBef>
                <a:spcPts val="800"/>
              </a:spcBef>
              <a:defRPr sz="1700" b="1">
                <a:solidFill>
                  <a:srgbClr val="4F46E5"/>
                </a:solidFill>
                <a:latin typeface="Arial"/>
              </a:defRPr>
            </a:pPr>
            <a:r>
              <a:t>•  Active Webhooks Log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    Displays active alert listeners and manages Slack/Discord integrations.</a:t>
            </a:r>
          </a:p>
          <a:p>
            <a:pPr>
              <a:spcBef>
                <a:spcPts val="800"/>
              </a:spcBef>
              <a:defRPr sz="1700" b="1">
                <a:solidFill>
                  <a:srgbClr val="4F46E5"/>
                </a:solidFill>
                <a:latin typeface="Arial"/>
              </a:defRPr>
            </a:pPr>
            <a:r>
              <a:t>•  Live Rejection Analytics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    Polls postgres audit entries in real time to show blocked requests.</a:t>
            </a:r>
          </a:p>
        </p:txBody>
      </p:sp>
      <p:pic>
        <p:nvPicPr>
          <p:cNvPr id="4" name="Picture 3" descr="dashboard_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217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How It Can Be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API Security Middleware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Integrate the POST /api/v1/check-limit route in your API Gateway check path to block DDOS attacks and API abuse.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Multi-Tenant Tier Billing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Enforce tier limits automatically (e.g. Free: 10 req/min, Pro: 100 req/min, Enterprise: 1000 req/min) for commercial SaaS platforms.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Admin Control Dashboard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Open /dashboard/index.html to dynamically apply user overrides, reset user caches, and register webhook receiver endpoints in real time.</a:t>
            </a:r>
          </a:p>
          <a:p>
            <a:pPr>
              <a:spcBef>
                <a:spcPts val="1200"/>
              </a:spcBef>
              <a:defRPr sz="1800" b="1">
                <a:solidFill>
                  <a:srgbClr val="4F46E5"/>
                </a:solidFill>
              </a:defRPr>
            </a:pPr>
            <a:r>
              <a:t>•  Instant Cloud Webhook Alerts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    Register webhook URLs (Slack/Discord channels) on the dashboard to trigger instant alerts when a user gets rate-limited.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