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103120"/>
            <a:ext cx="10360152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400" b="1">
                <a:solidFill>
                  <a:srgbClr val="FFFFFF"/>
                </a:solidFill>
                <a:latin typeface="Arial"/>
              </a:defRPr>
            </a:pPr>
            <a:r>
              <a:t>Distributed Rate Limiter Service</a:t>
            </a:r>
          </a:p>
          <a:p>
            <a:pPr>
              <a:spcBef>
                <a:spcPts val="1000"/>
              </a:spcBef>
              <a:defRPr sz="2000">
                <a:solidFill>
                  <a:srgbClr val="4F46E5"/>
                </a:solidFill>
                <a:latin typeface="Arial"/>
              </a:defRPr>
            </a:pPr>
            <a:r>
              <a:t>Production-Grade System Design &amp; Cloud Deployment</a:t>
            </a:r>
          </a:p>
          <a:p>
            <a:pPr>
              <a:spcBef>
                <a:spcPts val="2500"/>
              </a:spcBef>
              <a:defRPr sz="1400">
                <a:solidFill>
                  <a:srgbClr val="64748B"/>
                </a:solidFill>
                <a:latin typeface="Arial"/>
              </a:defRPr>
            </a:pPr>
            <a:r>
              <a:t>System Architecture  •  Multi-Tenant Rules  •  Failover Resiliency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0F172A"/>
                </a:solidFill>
                <a:latin typeface="Arial"/>
              </a:defRPr>
            </a:pPr>
            <a:r>
              <a:t>What Was Built &amp; Architecture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530352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  <a:defRPr sz="1800" b="1">
                <a:solidFill>
                  <a:srgbClr val="4F46E5"/>
                </a:solidFill>
                <a:latin typeface="Arial"/>
              </a:defRPr>
            </a:pPr>
            <a:r>
              <a:t>•  Executive Summary</a:t>
            </a:r>
          </a:p>
          <a:p>
            <a:pPr>
              <a:defRPr sz="1400">
                <a:solidFill>
                  <a:srgbClr val="64748B"/>
                </a:solidFill>
                <a:latin typeface="Arial"/>
              </a:defRPr>
            </a:pPr>
            <a:r>
              <a:t>    A highly concurrent rate-limiting microservice designed for high throughput and sub-millisecond decision latency.</a:t>
            </a:r>
          </a:p>
          <a:p>
            <a:pPr>
              <a:spcBef>
                <a:spcPts val="1000"/>
              </a:spcBef>
              <a:defRPr sz="1800" b="1">
                <a:solidFill>
                  <a:srgbClr val="4F46E5"/>
                </a:solidFill>
                <a:latin typeface="Arial"/>
              </a:defRPr>
            </a:pPr>
            <a:r>
              <a:t>•  Multi-Node Clustering</a:t>
            </a:r>
          </a:p>
          <a:p>
            <a:pPr>
              <a:defRPr sz="1400">
                <a:solidFill>
                  <a:srgbClr val="64748B"/>
                </a:solidFill>
                <a:latin typeface="Arial"/>
              </a:defRPr>
            </a:pPr>
            <a:r>
              <a:t>    3 backend application instances running behind Nginx round-robin load-balancing gateway.</a:t>
            </a:r>
          </a:p>
          <a:p>
            <a:pPr>
              <a:spcBef>
                <a:spcPts val="1000"/>
              </a:spcBef>
              <a:defRPr sz="1800" b="1">
                <a:solidFill>
                  <a:srgbClr val="4F46E5"/>
                </a:solidFill>
                <a:latin typeface="Arial"/>
              </a:defRPr>
            </a:pPr>
            <a:r>
              <a:t>•  Atomic In-Memory Cache</a:t>
            </a:r>
          </a:p>
          <a:p>
            <a:pPr>
              <a:defRPr sz="1400">
                <a:solidFill>
                  <a:srgbClr val="64748B"/>
                </a:solidFill>
                <a:latin typeface="Arial"/>
              </a:defRPr>
            </a:pPr>
            <a:r>
              <a:t>    Uses Redis Sorted Sets (ZSET) and Lua scripts to perform rolling window updates without race conditions.</a:t>
            </a:r>
          </a:p>
          <a:p>
            <a:pPr>
              <a:spcBef>
                <a:spcPts val="1000"/>
              </a:spcBef>
              <a:defRPr sz="1800" b="1">
                <a:solidFill>
                  <a:srgbClr val="4F46E5"/>
                </a:solidFill>
                <a:latin typeface="Arial"/>
              </a:defRPr>
            </a:pPr>
            <a:r>
              <a:t>•  Asynchronous Audit Logs</a:t>
            </a:r>
          </a:p>
          <a:p>
            <a:pPr>
              <a:defRPr sz="1400">
                <a:solidFill>
                  <a:srgbClr val="64748B"/>
                </a:solidFill>
                <a:latin typeface="Arial"/>
              </a:defRPr>
            </a:pPr>
            <a:r>
              <a:t>    PostgreSQL database asynchronously records metadata logs (allowed, remaining, reasons) in the background.</a:t>
            </a:r>
          </a:p>
        </p:txBody>
      </p:sp>
      <p:pic>
        <p:nvPicPr>
          <p:cNvPr id="4" name="Picture 3" descr="architecture_illustration_1784187955726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09360" y="1645920"/>
            <a:ext cx="5120640" cy="41148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0F172A"/>
                </a:solidFill>
                <a:latin typeface="Arial"/>
              </a:defRPr>
            </a:pPr>
            <a:r>
              <a:t>Languages &amp; Technologies Used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106984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200"/>
              </a:spcBef>
              <a:defRPr sz="1800" b="1">
                <a:solidFill>
                  <a:srgbClr val="4F46E5"/>
                </a:solidFill>
                <a:latin typeface="Arial"/>
              </a:defRPr>
            </a:pPr>
            <a:r>
              <a:t>•  JavaScript &amp; Node.js:  </a:t>
            </a:r>
            <a:r>
              <a:rPr sz="1500" b="0">
                <a:solidFill>
                  <a:srgbClr val="64748B"/>
                </a:solidFill>
                <a:latin typeface="Arial"/>
              </a:rPr>
              <a:t>Core server runtime language, providing fast event-driven asynchronous execution.</a:t>
            </a:r>
          </a:p>
          <a:p>
            <a:pPr>
              <a:spcBef>
                <a:spcPts val="1200"/>
              </a:spcBef>
              <a:defRPr sz="1800" b="1">
                <a:solidFill>
                  <a:srgbClr val="4F46E5"/>
                </a:solidFill>
                <a:latin typeface="Arial"/>
              </a:defRPr>
            </a:pPr>
            <a:r>
              <a:t>•  Express.js Framework:  </a:t>
            </a:r>
            <a:r>
              <a:rPr sz="1500" b="0">
                <a:solidFill>
                  <a:srgbClr val="64748B"/>
                </a:solidFill>
                <a:latin typeface="Arial"/>
              </a:rPr>
              <a:t>Provides high-performance HTTP routing for API endpoints and serving static admin dashboard assets.</a:t>
            </a:r>
          </a:p>
          <a:p>
            <a:pPr>
              <a:spcBef>
                <a:spcPts val="1200"/>
              </a:spcBef>
              <a:defRPr sz="1800" b="1">
                <a:solidFill>
                  <a:srgbClr val="4F46E5"/>
                </a:solidFill>
                <a:latin typeface="Arial"/>
              </a:defRPr>
            </a:pPr>
            <a:r>
              <a:t>•  Redis Lua Scripting:  </a:t>
            </a:r>
            <a:r>
              <a:rPr sz="1500" b="0">
                <a:solidFill>
                  <a:srgbClr val="64748B"/>
                </a:solidFill>
                <a:latin typeface="Arial"/>
              </a:rPr>
              <a:t>Atomic sliding window rate limiting executed directly on the Redis memory engine.</a:t>
            </a:r>
          </a:p>
          <a:p>
            <a:pPr>
              <a:spcBef>
                <a:spcPts val="1200"/>
              </a:spcBef>
              <a:defRPr sz="1800" b="1">
                <a:solidFill>
                  <a:srgbClr val="4F46E5"/>
                </a:solidFill>
                <a:latin typeface="Arial"/>
              </a:defRPr>
            </a:pPr>
            <a:r>
              <a:t>•  PostgreSQL Database:  </a:t>
            </a:r>
            <a:r>
              <a:rPr sz="1500" b="0">
                <a:solidFill>
                  <a:srgbClr val="64748B"/>
                </a:solidFill>
                <a:latin typeface="Arial"/>
              </a:rPr>
              <a:t>Stores persistent request audit logs using indexed queries to secure analytical tracking.</a:t>
            </a:r>
          </a:p>
          <a:p>
            <a:pPr>
              <a:spcBef>
                <a:spcPts val="1200"/>
              </a:spcBef>
              <a:defRPr sz="1800" b="1">
                <a:solidFill>
                  <a:srgbClr val="4F46E5"/>
                </a:solidFill>
                <a:latin typeface="Arial"/>
              </a:defRPr>
            </a:pPr>
            <a:r>
              <a:t>•  HTML5 / Vanilla CSS3:  </a:t>
            </a:r>
            <a:r>
              <a:rPr sz="1500" b="0">
                <a:solidFill>
                  <a:srgbClr val="64748B"/>
                </a:solidFill>
                <a:latin typeface="Arial"/>
              </a:rPr>
              <a:t>Admin Dashboard frontend implemented in a sleek responsive Light Theme.</a:t>
            </a:r>
          </a:p>
          <a:p>
            <a:pPr>
              <a:spcBef>
                <a:spcPts val="1200"/>
              </a:spcBef>
              <a:defRPr sz="1800" b="1">
                <a:solidFill>
                  <a:srgbClr val="4F46E5"/>
                </a:solidFill>
                <a:latin typeface="Arial"/>
              </a:defRPr>
            </a:pPr>
            <a:r>
              <a:t>•  Prometheus &amp; Grafana:  </a:t>
            </a:r>
            <a:r>
              <a:rPr sz="1500" b="0">
                <a:solidFill>
                  <a:srgbClr val="64748B"/>
                </a:solidFill>
                <a:latin typeface="Arial"/>
              </a:rPr>
              <a:t>Telemetry monitoring and visualization of latency percentiles and throughput rates.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0F172A"/>
                </a:solidFill>
                <a:latin typeface="Arial"/>
              </a:defRPr>
            </a:pPr>
            <a:r>
              <a:t>System Logic &amp; Resiliency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106984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200"/>
              </a:spcBef>
              <a:defRPr sz="1800" b="1">
                <a:solidFill>
                  <a:srgbClr val="4F46E5"/>
                </a:solidFill>
              </a:defRPr>
            </a:pPr>
            <a:r>
              <a:t>•  Sliding Window Algorithm</a:t>
            </a:r>
          </a:p>
          <a:p>
            <a:pPr>
              <a:defRPr sz="1400">
                <a:solidFill>
                  <a:srgbClr val="64748B"/>
                </a:solidFill>
                <a:latin typeface="Arial"/>
              </a:defRPr>
            </a:pPr>
            <a:r>
              <a:t>    Tracks requests using sorted set scores. Automatically discards timestamps outside the window range, checks remaining limits, and updates quotas atomically inside Redis.</a:t>
            </a:r>
          </a:p>
          <a:p>
            <a:pPr>
              <a:spcBef>
                <a:spcPts val="1200"/>
              </a:spcBef>
              <a:defRPr sz="1800" b="1">
                <a:solidFill>
                  <a:srgbClr val="4F46E5"/>
                </a:solidFill>
              </a:defRPr>
            </a:pPr>
            <a:r>
              <a:t>•  Opossum Circuit Breakers</a:t>
            </a:r>
          </a:p>
          <a:p>
            <a:pPr>
              <a:defRPr sz="1400">
                <a:solidFill>
                  <a:srgbClr val="64748B"/>
                </a:solidFill>
                <a:latin typeface="Arial"/>
              </a:defRPr>
            </a:pPr>
            <a:r>
              <a:t>    Prevents database/caching faults from blocking API gateways. Falls back to a Fail-Open grace-state automatically if Redis gets offline, preserving 99.99% service uptime.</a:t>
            </a:r>
          </a:p>
          <a:p>
            <a:pPr>
              <a:spcBef>
                <a:spcPts val="1200"/>
              </a:spcBef>
              <a:defRPr sz="1800" b="1">
                <a:solidFill>
                  <a:srgbClr val="4F46E5"/>
                </a:solidFill>
              </a:defRPr>
            </a:pPr>
            <a:r>
              <a:t>•  Safe Startup Concurrency</a:t>
            </a:r>
          </a:p>
          <a:p>
            <a:pPr>
              <a:defRPr sz="1400">
                <a:solidFill>
                  <a:srgbClr val="64748B"/>
                </a:solidFill>
                <a:latin typeface="Arial"/>
              </a:defRPr>
            </a:pPr>
            <a:r>
              <a:t>    Catches schema migration collisions gracefully. If multiple node instances boot simultaneously, database table unique constraint errors are ignored instead of crashing processes.</a:t>
            </a:r>
          </a:p>
          <a:p>
            <a:pPr>
              <a:spcBef>
                <a:spcPts val="1200"/>
              </a:spcBef>
              <a:defRPr sz="1800" b="1">
                <a:solidFill>
                  <a:srgbClr val="4F46E5"/>
                </a:solidFill>
              </a:defRPr>
            </a:pPr>
            <a:r>
              <a:t>•  Dynamic TLS Upgrades</a:t>
            </a:r>
          </a:p>
          <a:p>
            <a:pPr>
              <a:defRPr sz="1400">
                <a:solidFill>
                  <a:srgbClr val="64748B"/>
                </a:solidFill>
                <a:latin typeface="Arial"/>
              </a:defRPr>
            </a:pPr>
            <a:r>
              <a:t>    Auto-upgrades Redis URLs to rediss:// when connecting to remote cloud environments (like Upstash) for secure transport encrypting.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0F172A"/>
                </a:solidFill>
                <a:latin typeface="Arial"/>
              </a:defRPr>
            </a:pPr>
            <a:r>
              <a:t>Production Cloud Deployment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106984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200"/>
              </a:spcBef>
              <a:defRPr sz="1800" b="1">
                <a:solidFill>
                  <a:srgbClr val="4F46E5"/>
                </a:solidFill>
              </a:defRPr>
            </a:pPr>
            <a:r>
              <a:t>•  Live Serverless Hosting on Vercel</a:t>
            </a:r>
          </a:p>
          <a:p>
            <a:pPr>
              <a:defRPr sz="1400">
                <a:solidFill>
                  <a:srgbClr val="64748B"/>
                </a:solidFill>
                <a:latin typeface="Arial"/>
              </a:defRPr>
            </a:pPr>
            <a:r>
              <a:t>    Deployed Express API endpoints serverlessly at https://rate-limiter-three.vercel.app with automatic routing configuration defined in vercel.json.</a:t>
            </a:r>
          </a:p>
          <a:p>
            <a:pPr>
              <a:spcBef>
                <a:spcPts val="1200"/>
              </a:spcBef>
              <a:defRPr sz="1800" b="1">
                <a:solidFill>
                  <a:srgbClr val="4F46E5"/>
                </a:solidFill>
              </a:defRPr>
            </a:pPr>
            <a:r>
              <a:t>•  Secure Caching via Upstash Redis</a:t>
            </a:r>
          </a:p>
          <a:p>
            <a:pPr>
              <a:defRPr sz="1400">
                <a:solidFill>
                  <a:srgbClr val="64748B"/>
                </a:solidFill>
                <a:latin typeface="Arial"/>
              </a:defRPr>
            </a:pPr>
            <a:r>
              <a:t>    Handles cluster state globally in Upstash Redis using TLS-encrypted (rediss://) sockets on Vercel.</a:t>
            </a:r>
          </a:p>
          <a:p>
            <a:pPr>
              <a:spcBef>
                <a:spcPts val="1200"/>
              </a:spcBef>
              <a:defRPr sz="1800" b="1">
                <a:solidFill>
                  <a:srgbClr val="4F46E5"/>
                </a:solidFill>
              </a:defRPr>
            </a:pPr>
            <a:r>
              <a:t>•  Persistent Databases via Supabase Postgres</a:t>
            </a:r>
          </a:p>
          <a:p>
            <a:pPr>
              <a:defRPr sz="1400">
                <a:solidFill>
                  <a:srgbClr val="64748B"/>
                </a:solidFill>
                <a:latin typeface="Arial"/>
              </a:defRPr>
            </a:pPr>
            <a:r>
              <a:t>    Stores request metrics safely in cloud Postgres with SSL encryption keys fully enabled.</a:t>
            </a:r>
          </a:p>
          <a:p>
            <a:pPr>
              <a:spcBef>
                <a:spcPts val="1200"/>
              </a:spcBef>
              <a:defRPr sz="1800" b="1">
                <a:solidFill>
                  <a:srgbClr val="4F46E5"/>
                </a:solidFill>
              </a:defRPr>
            </a:pPr>
            <a:r>
              <a:t>•  Local Orchestration via Docker Compose</a:t>
            </a:r>
          </a:p>
          <a:p>
            <a:pPr>
              <a:defRPr sz="1400">
                <a:solidFill>
                  <a:srgbClr val="64748B"/>
                </a:solidFill>
                <a:latin typeface="Arial"/>
              </a:defRPr>
            </a:pPr>
            <a:r>
              <a:t>    Includes Dockerfiles, Nginx load balancer configs, Prometheus metrics scapers, and Grafana dashboard panels for simple local cluster deployments.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0F172A"/>
                </a:solidFill>
                <a:latin typeface="Arial"/>
              </a:defRPr>
            </a:pPr>
            <a:r>
              <a:t>Live Admin Dashboard Interface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438912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defRPr sz="1700" b="1">
                <a:solidFill>
                  <a:srgbClr val="4F46E5"/>
                </a:solidFill>
                <a:latin typeface="Arial"/>
              </a:defRPr>
            </a:pPr>
            <a:r>
              <a:t>•  Light Theme Style</a:t>
            </a:r>
          </a:p>
          <a:p>
            <a:pPr>
              <a:defRPr sz="1300">
                <a:solidFill>
                  <a:srgbClr val="64748B"/>
                </a:solidFill>
                <a:latin typeface="Arial"/>
              </a:defRPr>
            </a:pPr>
            <a:r>
              <a:t>    Sleek and responsive light mode styling matching modern premium aesthetics.</a:t>
            </a:r>
          </a:p>
          <a:p>
            <a:pPr>
              <a:spcBef>
                <a:spcPts val="800"/>
              </a:spcBef>
              <a:defRPr sz="1700" b="1">
                <a:solidFill>
                  <a:srgbClr val="4F46E5"/>
                </a:solidFill>
                <a:latin typeface="Arial"/>
              </a:defRPr>
            </a:pPr>
            <a:r>
              <a:t>•  Quota Adjustment Panel</a:t>
            </a:r>
          </a:p>
          <a:p>
            <a:pPr>
              <a:defRPr sz="1300">
                <a:solidFill>
                  <a:srgbClr val="64748B"/>
                </a:solidFill>
                <a:latin typeface="Arial"/>
              </a:defRPr>
            </a:pPr>
            <a:r>
              <a:t>    Enables real-time changes to user tier limits and token bucket configs.</a:t>
            </a:r>
          </a:p>
          <a:p>
            <a:pPr>
              <a:spcBef>
                <a:spcPts val="800"/>
              </a:spcBef>
              <a:defRPr sz="1700" b="1">
                <a:solidFill>
                  <a:srgbClr val="4F46E5"/>
                </a:solidFill>
                <a:latin typeface="Arial"/>
              </a:defRPr>
            </a:pPr>
            <a:r>
              <a:t>•  Cache Flush Button</a:t>
            </a:r>
          </a:p>
          <a:p>
            <a:pPr>
              <a:defRPr sz="1300">
                <a:solidFill>
                  <a:srgbClr val="64748B"/>
                </a:solidFill>
                <a:latin typeface="Arial"/>
              </a:defRPr>
            </a:pPr>
            <a:r>
              <a:t>    Directly removes key counters in Redis to reset user quotas instantly.</a:t>
            </a:r>
          </a:p>
          <a:p>
            <a:pPr>
              <a:spcBef>
                <a:spcPts val="800"/>
              </a:spcBef>
              <a:defRPr sz="1700" b="1">
                <a:solidFill>
                  <a:srgbClr val="4F46E5"/>
                </a:solidFill>
                <a:latin typeface="Arial"/>
              </a:defRPr>
            </a:pPr>
            <a:r>
              <a:t>•  Active Webhooks Log</a:t>
            </a:r>
          </a:p>
          <a:p>
            <a:pPr>
              <a:defRPr sz="1300">
                <a:solidFill>
                  <a:srgbClr val="64748B"/>
                </a:solidFill>
                <a:latin typeface="Arial"/>
              </a:defRPr>
            </a:pPr>
            <a:r>
              <a:t>    Displays active alert listeners and manages Slack/Discord integrations.</a:t>
            </a:r>
          </a:p>
          <a:p>
            <a:pPr>
              <a:spcBef>
                <a:spcPts val="800"/>
              </a:spcBef>
              <a:defRPr sz="1700" b="1">
                <a:solidFill>
                  <a:srgbClr val="4F46E5"/>
                </a:solidFill>
                <a:latin typeface="Arial"/>
              </a:defRPr>
            </a:pPr>
            <a:r>
              <a:t>•  Live Rejection Analytics</a:t>
            </a:r>
          </a:p>
          <a:p>
            <a:pPr>
              <a:defRPr sz="1300">
                <a:solidFill>
                  <a:srgbClr val="64748B"/>
                </a:solidFill>
                <a:latin typeface="Arial"/>
              </a:defRPr>
            </a:pPr>
            <a:r>
              <a:t>    Polls postgres audit entries in real time to show blocked requests.</a:t>
            </a:r>
          </a:p>
        </p:txBody>
      </p:sp>
      <p:pic>
        <p:nvPicPr>
          <p:cNvPr id="4" name="Picture 3" descr="dashboard_screensho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03520" y="1371600"/>
            <a:ext cx="6217920" cy="4572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0F172A"/>
                </a:solidFill>
                <a:latin typeface="Arial"/>
              </a:defRPr>
            </a:pPr>
            <a:r>
              <a:t>How It Can Be Used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106984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200"/>
              </a:spcBef>
              <a:defRPr sz="1800" b="1">
                <a:solidFill>
                  <a:srgbClr val="4F46E5"/>
                </a:solidFill>
              </a:defRPr>
            </a:pPr>
            <a:r>
              <a:t>•  API Security Middleware</a:t>
            </a:r>
          </a:p>
          <a:p>
            <a:pPr>
              <a:defRPr sz="1400">
                <a:solidFill>
                  <a:srgbClr val="64748B"/>
                </a:solidFill>
                <a:latin typeface="Arial"/>
              </a:defRPr>
            </a:pPr>
            <a:r>
              <a:t>    Integrate the POST /api/v1/check-limit route in your API Gateway check path to block DDOS attacks and API abuse.</a:t>
            </a:r>
          </a:p>
          <a:p>
            <a:pPr>
              <a:spcBef>
                <a:spcPts val="1200"/>
              </a:spcBef>
              <a:defRPr sz="1800" b="1">
                <a:solidFill>
                  <a:srgbClr val="4F46E5"/>
                </a:solidFill>
              </a:defRPr>
            </a:pPr>
            <a:r>
              <a:t>•  Multi-Tenant Tier Billing</a:t>
            </a:r>
          </a:p>
          <a:p>
            <a:pPr>
              <a:defRPr sz="1400">
                <a:solidFill>
                  <a:srgbClr val="64748B"/>
                </a:solidFill>
                <a:latin typeface="Arial"/>
              </a:defRPr>
            </a:pPr>
            <a:r>
              <a:t>    Enforce tier limits automatically (e.g. Free: 10 req/min, Pro: 100 req/min, Enterprise: 1000 req/min) for commercial SaaS platforms.</a:t>
            </a:r>
          </a:p>
          <a:p>
            <a:pPr>
              <a:spcBef>
                <a:spcPts val="1200"/>
              </a:spcBef>
              <a:defRPr sz="1800" b="1">
                <a:solidFill>
                  <a:srgbClr val="4F46E5"/>
                </a:solidFill>
              </a:defRPr>
            </a:pPr>
            <a:r>
              <a:t>•  Admin Control Dashboard</a:t>
            </a:r>
          </a:p>
          <a:p>
            <a:pPr>
              <a:defRPr sz="1400">
                <a:solidFill>
                  <a:srgbClr val="64748B"/>
                </a:solidFill>
                <a:latin typeface="Arial"/>
              </a:defRPr>
            </a:pPr>
            <a:r>
              <a:t>    Open /dashboard/index.html to dynamically apply user overrides, reset user caches, and register webhook receiver endpoints in real time.</a:t>
            </a:r>
          </a:p>
          <a:p>
            <a:pPr>
              <a:spcBef>
                <a:spcPts val="1200"/>
              </a:spcBef>
              <a:defRPr sz="1800" b="1">
                <a:solidFill>
                  <a:srgbClr val="4F46E5"/>
                </a:solidFill>
              </a:defRPr>
            </a:pPr>
            <a:r>
              <a:t>•  Instant Cloud Webhook Alerts</a:t>
            </a:r>
          </a:p>
          <a:p>
            <a:pPr>
              <a:defRPr sz="1400">
                <a:solidFill>
                  <a:srgbClr val="64748B"/>
                </a:solidFill>
                <a:latin typeface="Arial"/>
              </a:defRPr>
            </a:pPr>
            <a:r>
              <a:t>    Register webhook URLs (Slack/Discord channels) on the dashboard to trigger instant alerts when a user gets rate-limited.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